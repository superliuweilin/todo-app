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371600"/>
            <a:ext cx="4572000" cy="4572000"/>
          </a:xfrm>
          <a:prstGeom prst="ellipse">
            <a:avLst/>
          </a:prstGeom>
          <a:solidFill>
            <a:srgbClr val="22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2858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大语言模型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286000" cy="4572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Microsoft YaHei"/>
              </a:defRPr>
            </a:pPr>
            <a:r>
              <a:t>人工智能概论  ·  专题课程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课程大纲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什么是大语言模型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55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定义 · 规模定律 · 涌现能力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103120"/>
            <a:ext cx="9144000" cy="45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00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核心技术原理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243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Transformer · Self-Attention · RLHF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971800"/>
            <a:ext cx="9144000" cy="45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1868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主流大模型一览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930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GPT · Claude · Gemini · 国产模型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840480"/>
            <a:ext cx="9144000" cy="45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069079"/>
            <a:ext cx="457200" cy="4572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8736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61687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文本 · 编程 · 行业 · 多模态 ·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709159"/>
            <a:ext cx="9144000" cy="45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9560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提示工程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303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基础技巧 · 进阶方法 · 实践对比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577840"/>
            <a:ext cx="9144000" cy="45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806440"/>
            <a:ext cx="457200" cy="457200"/>
          </a:xfrm>
          <a:prstGeom prst="ellipse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82472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挑战与展望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60990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幻觉 · 偏见 · 安全 · AGI之路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从传统AI到大模型：一次范式革命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From Narrow AI to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专用AI时代</a:t>
            </a:r>
            <a:br/>
            <a:r>
              <a:t>2010s以前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每个任务训练一个模型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需要大量标注数据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仅限特定领域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深度学习时代</a:t>
            </a:r>
            <a:br/>
            <a:r>
              <a:t>2012-2020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CNN/RNN/LSTM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ImageNet推动CV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BERT/GPT-1 初现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475488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大模型时代</a:t>
            </a:r>
            <a:br/>
            <a:r>
              <a:t>2020至今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一个模型解决多任务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涌现能力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• GPT-4/Claude/Gemini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96512" y="3474720"/>
            <a:ext cx="228600" cy="164592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936992" y="3474720"/>
            <a:ext cx="228600" cy="164592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什么是大语言模型？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What are Large Language Models?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核心概念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基于海量文本数据训练的巨型神经网络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参数规模通常在数十亿到数万亿之间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核心任务：Next Token Prediction（预测下一个词）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通过学习语言的统计规律，获得理解和生成能力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关键特性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规模效应：更大模型 → 更强能力 (Scaling Law)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上下文学习：通过示例即可学习新任务 (In-Context Learning)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思维链：逐步推理解决复杂问题 (Chain-of-Thought)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多语言：天然支持多种语言的互译和理解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64240" cy="10972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核心公式：P(wₜ | w₁, w₂, ..., wₜ₋₁)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大语言模型本质上是一个「条件概率分布函数」，给定前文，预测下一个最可能出现的词（token）。通过反复执行这一简单操作，模型可以写出文章、回答问题、编写代码，甚至进行逻辑推理。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9496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输入文本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34640" y="5486400"/>
            <a:ext cx="18288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539496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分词(Tokenize)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20640" y="5486400"/>
            <a:ext cx="18288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539496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神经网络计算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5486400"/>
            <a:ext cx="18288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0" y="539496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输出概率分布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92640" y="5486400"/>
            <a:ext cx="18288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6960" y="539496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生成Token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规模定律：为什么「大」很重要？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Scaling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B3A5C"/>
                </a:solidFill>
                <a:latin typeface="Microsoft YaHei"/>
              </a:defRPr>
            </a:pPr>
            <a:r>
              <a:t>Scaling Law（规模定律）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模型性能与三个因素呈幂律关系：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模型参数量 (N) — 神经元和连接的数量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训练数据量 (D) — 用来训练的Token数量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训练计算量 (C) — 用于训练的GPU算力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b="1" sz="1200">
                <a:solidFill>
                  <a:srgbClr val="E8722A"/>
                </a:solidFill>
                <a:latin typeface="Microsoft YaHei"/>
              </a:defRPr>
            </a:pPr>
            <a:r>
              <a:t>核心发现（Kaplan et al., 2020）：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性能随规模平滑提升，不存在明显天花板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更大的模型用更少的数据达到同样性能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  • 模型大小和数据量应同步扩展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这一定律直接推动了模型规模的指数级增长，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从GPT-1的1.17亿参数到GPT-4的超万亿参数。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78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518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GPT-1   0.117B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93392"/>
            <a:ext cx="808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93392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3048" y="2066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BERT-L   0.34B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15184"/>
            <a:ext cx="3566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615184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5806" y="26883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GPT-2   1.5B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36976"/>
            <a:ext cx="416052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236976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8292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GPT-3   175B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58768"/>
            <a:ext cx="1283817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58768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6057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PaLM   540B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4279392" cy="41148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480560"/>
            <a:ext cx="36576" cy="41148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71632" y="4553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GPT-4   1800B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涌现能力：量变引起质变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Emergent 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思维链推理</a:t>
            </a:r>
            <a:br/>
            <a:r>
              <a:t>Chain-of-Thought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模型能够分步骤</a:t>
            </a:r>
            <a:br/>
            <a:r>
              <a:t>推理解决复杂问题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上下文学习</a:t>
            </a:r>
            <a:br/>
            <a:r>
              <a:t>In-Context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通过几个示例</a:t>
            </a:r>
            <a:br/>
            <a:r>
              <a:t>就能学会新任务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多语言翻译</a:t>
            </a:r>
            <a:br/>
            <a:r>
              <a:t>Multilingual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无需平行语料</a:t>
            </a:r>
            <a:br/>
            <a:r>
              <a:t>实现语言间翻译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代码生成</a:t>
            </a:r>
            <a:br/>
            <a:r>
              <a:t>Code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理解自然语言</a:t>
            </a:r>
            <a:br/>
            <a:r>
              <a:t>并生成可运行代码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数学推理</a:t>
            </a:r>
            <a:br/>
            <a:r>
              <a:t>Math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解决需要多步</a:t>
            </a:r>
            <a:br/>
            <a:r>
              <a:t>计算的数学问题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93192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  <a:latin typeface="Microsoft YaHei"/>
              </a:defRPr>
            </a:pPr>
            <a:r>
              <a:t>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常识问答</a:t>
            </a:r>
            <a:br/>
            <a:r>
              <a:t>World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12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利用训练习得的</a:t>
            </a:r>
            <a:br/>
            <a:r>
              <a:t>知识回答问题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大语言模型 vs 传统NLP方法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LLM vs Traditional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传统NLP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大语言模型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训练方式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每个任务单独训练模型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一个基础模型适配多任务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数据需求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大量人工标注数据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海量无标注文本 + 少量标注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泛化能力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仅限训练过的任务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可以泛化到未见过的任务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交互方式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API调用/分类输出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自然语言对话式交互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固定窗口/浅层理解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长上下文/深层语义理解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开发成本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每个任务高成本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一次训练，多场景使用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典型代表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LSTM, CRF, TextCNN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GPT-4, Claude, Gemini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Transformer架构：大模型的基石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Transformer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输入文本 Token 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+ 位置编码 Positional Encoding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8800" y="1"/>
            <a:ext cx="13716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1828800" y="2"/>
            <a:ext cx="137160" cy="137160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14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Multi-Head</a:t>
            </a:r>
            <a:br/>
            <a:r>
              <a:t>Self-Attention</a:t>
            </a:r>
            <a:br/>
            <a:r>
              <a:t>多头自注意力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2560320" cy="73152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Feed Forward Network</a:t>
            </a:r>
            <a:br/>
            <a:r>
              <a:t>前馈神经网络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651760"/>
            <a:ext cx="365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22A"/>
                </a:solidFill>
                <a:latin typeface="Microsoft YaHei"/>
              </a:defRPr>
            </a:pPr>
            <a:r>
              <a:t>N×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24912"/>
            <a:ext cx="18288" cy="1463040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1188720"/>
            <a:ext cx="7772400" cy="13716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1261872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Self-Attention 核心思想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1536192"/>
            <a:ext cx="7498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让每个词都关注到序列中所有其他词，计算它们之间的关联权重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Q(Query) × K(Key)ᵀ → Softmax → × V(Value) → 加权求和输出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相比RNN：可并行计算、能捕捉长距离依赖、训练效率高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834640"/>
            <a:ext cx="7772400" cy="13716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2907792"/>
            <a:ext cx="749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Transformer 的关键创新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3182112"/>
            <a:ext cx="7498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抛弃了RNN/LSTM的序列计算方式，完全基于注意力机制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Encoder（编码器）：理解输入 → Decoder（解码器）：生成输出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现代LLM大多使用Decoder-Only架构（如GPT系列）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从Transformer到ChatGPT的演进：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Transformer</a:t>
            </a:r>
            <a:br/>
            <a:r>
              <a:t>2017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BERT</a:t>
            </a:r>
            <a:br/>
            <a:r>
              <a:t>2018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GPT-2</a:t>
            </a:r>
            <a:br/>
            <a:r>
              <a:t>2019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GPT-3</a:t>
            </a:r>
            <a:br/>
            <a:r>
              <a:t>2020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ChatGPT</a:t>
            </a:r>
            <a:br/>
            <a:r>
              <a:t>2022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GPT-4</a:t>
            </a:r>
            <a:br/>
            <a:r>
              <a:t>2023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98480" y="493776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GPT-4o</a:t>
            </a:r>
            <a:br/>
            <a:r>
              <a:t>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Self-Attention 机制详解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How Self-Attention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1B3A5C"/>
                </a:solidFill>
                <a:latin typeface="Microsoft YaHei"/>
              </a:defRPr>
            </a:pPr>
            <a:r>
              <a:t>Self-Attention 计算步骤：</a:t>
            </a:r>
          </a:p>
          <a:p>
            <a:pPr>
              <a:spcAft>
                <a:spcPts val="600"/>
              </a:spcAft>
              <a:defRPr b="0" sz="1200">
                <a:solidFill>
                  <a:srgbClr val="2D2D2D"/>
                </a:solidFill>
                <a:latin typeface="Microsoft YaHei"/>
              </a:defRPr>
            </a:pPr>
            <a:r>
              <a:t>① 每个词生成 Q(Query)、K(Key)、V(Value) 三个向量   ② 用Q和K计算注意力分数矩阵</a:t>
            </a:r>
          </a:p>
          <a:p>
            <a:pPr>
              <a:spcAft>
                <a:spcPts val="600"/>
              </a:spcAft>
              <a:defRPr b="0" sz="1200">
                <a:solidFill>
                  <a:srgbClr val="2D2D2D"/>
                </a:solidFill>
                <a:latin typeface="Microsoft YaHei"/>
              </a:defRPr>
            </a:pPr>
            <a:r>
              <a:t>③ Softmax归一化得到注意力权重        ④ 用权重对V加权求和，得到每个词的上下文表示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432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Q: 中国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7432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Q: 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7432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Q: 首都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Q: 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7432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788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Q: 北京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权重矩阵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429000"/>
            <a:ext cx="1463040" cy="3200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0.80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42900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42900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2900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342900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3447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79476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813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794760"/>
            <a:ext cx="1463040" cy="3200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813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0.80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79476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813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9476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813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379476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813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416052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16052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60520"/>
            <a:ext cx="1463040" cy="3200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0.80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16052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416052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4178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452628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4544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452628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0" y="4544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452628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4544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4526280"/>
            <a:ext cx="1463040" cy="3200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544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0.80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452628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80" y="45445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489204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4910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489204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7520" y="4910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4892040"/>
            <a:ext cx="146304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3440" y="4910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892040"/>
            <a:ext cx="1463040" cy="320040"/>
          </a:xfrm>
          <a:prstGeom prst="rect">
            <a:avLst/>
          </a:prstGeom>
          <a:solidFill>
            <a:srgbClr val="609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4910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Microsoft YaHei"/>
              </a:defRPr>
            </a:pPr>
            <a:r>
              <a:t>0.15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80" y="4892040"/>
            <a:ext cx="1463040" cy="3200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0" y="4910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0.80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0" y="5440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0" y="5486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Out: 中国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17520" y="5440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5486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Out: 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663440" y="5440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63440" y="5486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Out: 首都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5440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5486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Out: 是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55280" y="5440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55280" y="5486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Out: 北京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5486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2D2D"/>
                </a:solidFill>
                <a:latin typeface="Microsoft YaHei"/>
              </a:defRPr>
            </a:pPr>
            <a:r>
              <a:t>输出</a:t>
            </a:r>
            <a:br/>
            <a:r>
              <a:t>表示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5A5A6"/>
                </a:solidFill>
                <a:latin typeface="Microsoft YaHei"/>
              </a:defRPr>
            </a:pPr>
            <a:r>
              <a:t>说明：每个词关注所有其他词，但注意力权重不同。'北京'和'首都'之间的注意力权重较高，因为它们语义相关。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大模型的训练三阶段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Training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82296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阶段一：预训练</a:t>
            </a:r>
            <a:br/>
            <a:r>
              <a:t>Pre-training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目标：学习语言的统计规律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数据：数万亿Token的文本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方法：自监督学习 (Next Token Prediction)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算力：数千GPU，数月训练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产出：基座模型 (Base Model)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代表：GPT-3, LLaMA, Qwen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3200400"/>
            <a:ext cx="201168" cy="146304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822960"/>
          </a:xfrm>
          <a:prstGeom prst="roundRect">
            <a:avLst>
              <a:gd name="adj" fmla="val 6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8988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阶段二：监督微调</a:t>
            </a:r>
            <a:br/>
            <a:r>
              <a:t>SFT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37744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480560" y="272491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目标：学会遵循指令和对话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数据：高质量问答对 (10万-100万)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方法：标准监督学习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产出：对话模型 (Chat Model)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代表：GPT-3.5-turbo, Vicuna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9560" y="3200400"/>
            <a:ext cx="201168" cy="146304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474720" cy="82296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8988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阶段三：RLHF</a:t>
            </a:r>
            <a:br/>
            <a:r>
              <a:t>人类反馈强化学习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37744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366760" y="272491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目标：对齐人类偏好和价值观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数据：人类偏好比较数据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方法：PPO / DPO 算法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关键：奖励模型+策略优化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产出：对齐模型 (Aligned Model)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代表：ChatGPT, Claude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RLHF：让模型对齐人类偏好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Reinforcement Learning from Human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预训练</a:t>
            </a:r>
            <a:br/>
            <a:r>
              <a:t>基座模型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331720"/>
            <a:ext cx="182880" cy="137160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收集人类</a:t>
            </a:r>
            <a:br/>
            <a:r>
              <a:t>偏好数据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6320" y="2331720"/>
            <a:ext cx="182880" cy="137160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3C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训练</a:t>
            </a:r>
            <a:br/>
            <a:r>
              <a:t>奖励模型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78040" y="2331720"/>
            <a:ext cx="182880" cy="137160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59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PPO/DPO</a:t>
            </a:r>
            <a:br/>
            <a:r>
              <a:t>策略优化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09759" y="2331720"/>
            <a:ext cx="182880" cy="137160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对齐后</a:t>
            </a:r>
            <a:br/>
            <a:r>
              <a:t>的模型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RLHF 核心流程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30752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1. 从预训练SFT模型采样多个回答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2. 人类标注者对回答进行排序（A &gt; B &gt; C）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3. 训练奖励模型(RM)预测人类偏好分数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4. 使用PPO算法优化策略，最大化RM打分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5. 同时加入KL散度约束，防止偏离太远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6. DPO(Direct Preference Optimization)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  简化了PPO，直接优化偏好数据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383280"/>
            <a:ext cx="5303520" cy="27432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为什么需要RLHF？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30752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基座模型会生成有害/偏见内容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模型不知道什么是「好」的回答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RLHF让模型学习人类价值观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提升有用性(Helpful)和安全性(Harmless)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减少幻觉和拒绝不当请求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这也被称为AI对齐(Alignment)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Token与分词：模型如何「读」文字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Tokenization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示例：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6858000" cy="64008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原文："人工智能正在改变世界"  →  Token序列：[人工智能, 正在, 改变, 世界]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51760"/>
          <a:ext cx="10607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BPE (GPT系列)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SentencePiece (LLaMA)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WordPiece (BERT)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原理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字节对编码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高频字符合并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Unigram语言模型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概率分词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贪心最长匹配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字符级BPE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词汇量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~32K-256K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中文处理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按UTF-8字节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效果一般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支持中文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效果较好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按字符分割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效率较低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代表模型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GPT-3/4/4o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LLaMA, 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4515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为什么Tokenization很重要？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1947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Token决定了模型理解的「最小单元」——类似于人类语言中的「词」或「字」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同样的中文输入，不同分词器产生的Token数量不同 → 影响推理速度和成本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GPT-4的中文Token效率约是英文的2倍（即同样内容中文消耗更多Token）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分词器的不完美会导致「Token Bias」——例如数字分解后算术推理变得困难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GPT系列：从实验室到席卷全球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The GPT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GPT-1</a:t>
            </a:r>
            <a:br/>
            <a:r>
              <a:t>2018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1.17亿参数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BooksCorpus训练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概念验证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48840" y="1600200"/>
            <a:ext cx="109728" cy="109728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GPT-2</a:t>
            </a:r>
            <a:br/>
            <a:r>
              <a:t>2019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246888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15亿参数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WebText训练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"Too dangerous"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14800" y="1600200"/>
            <a:ext cx="109728" cy="109728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3C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GPT-3</a:t>
            </a:r>
            <a:br/>
            <a:r>
              <a:t>2020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43484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1750亿参数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In-Context Learning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Few-shot能力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80760" y="1600200"/>
            <a:ext cx="109728" cy="109728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GPT-3.5</a:t>
            </a:r>
            <a:br/>
            <a:r>
              <a:t>2022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0080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ChatGPT发布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RLHF对齐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月活1亿/2个月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046720" y="1600200"/>
            <a:ext cx="109728" cy="109728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GPT-4</a:t>
            </a:r>
            <a:br/>
            <a:r>
              <a:t>2023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836676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多模态(MoE)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律师考试前10%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更大上下文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012680" y="1600200"/>
            <a:ext cx="109728" cy="109728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95560" y="1280160"/>
            <a:ext cx="1691640" cy="822960"/>
          </a:xfrm>
          <a:prstGeom prst="roundRect">
            <a:avLst>
              <a:gd name="adj" fmla="val 6000"/>
            </a:avLst>
          </a:prstGeom>
          <a:solidFill>
            <a:srgbClr val="D45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GPT-4o</a:t>
            </a:r>
            <a:br/>
            <a: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2240280"/>
            <a:ext cx="1691640" cy="182880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23134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10332720" y="2587752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全能多模态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实时语音/视觉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更快更便宜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关键启示：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• 从GPT-1到GPT-4o，仅6年时间，参数规模增长约15000倍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• GPT-3验证了Scaling Law的正确性，Few-Shot能力改变了对AI的认知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• ChatGPT（GPT-3.5）将大模型推向大众，2个月内月活突破1亿，成为史上增长最快的应用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• GPT-4引入多模态能力（理解图像），GPT-4o进一步统一文本/视觉/语音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• MoE（混合专家）架构：GPT-4据传由8个×220B专家子模型组成，推理时仅激活部分参数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Claude 与 Gemini：两大强力竞争者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Claude &amp;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Anthropic — Claude 系列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由前OpenAI员工创立，专注AI安全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Claude 3.5 Sonnet（2024.6）：编程能力顶级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Claude 3.5 Haiku：快速且经济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Claude Opus 4（2025）：旗舰级推理能力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核心特点：长上下文(200K)、安全性强、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 Constitutional AI 对齐方法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Google — Gemini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19072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DeepMind + Google Brain 合并打造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Gemini 1.0（2023.12）：原生多模态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Gemini 1.5 Pro：100万Token上下文窗口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Gemini 2.5 Pro（2025）：推理能力领先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核心特点：多模态原生融合、超长上下文、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 深度整合Google生态（搜索、Workspace）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84048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 (GPT-4o)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 (Claude)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 (Gemini)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多模态+生态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开发者工具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长上下文+安全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编程/写作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超长上下文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搜索整合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上下文窗口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1M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安全理念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RLHF + 红队测试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Constitutional AI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AI Principles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定价策略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中等偏低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国产大模型：百花齐放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Chinese LLMs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百度 · 文心一言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ERNIE系列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知识增强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中文理解领先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2023.3首发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阿里 · 通义千问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2024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26280" y="226771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Qwen系列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开源生态好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多模态支持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全球下载量领先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2024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93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66760" y="226771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MoE架构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DeepSeek-V3/R1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推理能力极强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高性价比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3C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字节 · 豆包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491947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火山引擎驱动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模型家族完整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语音助手领先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企业级服务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84048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4C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月之暗面 · Kimi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57200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26280" y="491947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超长上下文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200万字支持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联网搜索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深度阅读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840480"/>
            <a:ext cx="3474720" cy="594360"/>
          </a:xfrm>
          <a:prstGeom prst="roundRect">
            <a:avLst>
              <a:gd name="adj" fmla="val 5000"/>
            </a:avLst>
          </a:prstGeom>
          <a:solidFill>
            <a:srgbClr val="2C6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136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智谱 · ChatGLM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57200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645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366760" y="491947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清华系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GLM架构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中英双语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完整产品线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开源大模型生态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Open Source LLM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开发者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参数规模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核心特色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LLaMA 3/4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8B-405B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开源标杆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生态最完善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研究、微调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多场景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Qwen 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阿里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0.5B-72B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中文能力最强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多尺寸覆盖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中文应用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企业部署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Mistral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7B-8×22B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MoE架构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法文优化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欧洲语言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轻量场景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DeepSeek-V3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671B(MoE)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创新MoE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高性价比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中文推理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编程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Phi-4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微软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14B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小模型大能力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教科书训练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端侧部署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教育场景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Yi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零一万物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6B-34B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双语支持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中文办公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知识问答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4622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开源模型的意义与趋势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36592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降低AI门槛：开发者可免费使用、微调、部署，无需依赖API，隐私性更好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缩小差距：开源模型与闭源模型的性能差距正在快速缩小（Qwen2.5-72B ≈ GPT-4约85%）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垂直应用：企业可基于开源模型微调行业专用模型（法律、医疗、金融等）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小型化趋势：1B-7B参数的「小钢炮」模型能力持续提升，端侧部署成为可能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主流大模型能力全景对比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Model Capability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645920"/>
                <a:gridCol w="146304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参数规模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上下文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编程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~1.8T(MoE)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文本+图+音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$$$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GPT-4.1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~1.8T(MoE)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Claude Opus 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200K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$$$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Claude Sonnet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Gemini 2.5 Pro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原生多模态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★★★☆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DeepSeek-V3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671B(MoE)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DeepSeek-R1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671B(MoE)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Qwen2.5-72B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72B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文心4.5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文本+图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$$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注：价格为相对参考 ($=低 $$$=高)  |  数据截至2025年5月，模型能力持续进化中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应用场景（一）：文本生成与创作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Text Generation &amp;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📝 内容创作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文章写作、剧本创作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诗歌、小说、广告文案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多语言翻译与润色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88720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19" y="12618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📊 信息处理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536192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文档摘要与提炼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会议纪要自动生成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长篇报告分析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22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💬 对话与客服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96511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智能客服7×24小时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个性化教育辅导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心理咨询辅助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749039"/>
            <a:ext cx="5394960" cy="219456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3822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📧 办公效率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4096511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邮件起草与回复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PPT大纲生成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Excel公式编写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应用场景（二）：编程与代码辅助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Coding &amp;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AI编程助手先驱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代码补全与生成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支持VS Code/JetBrains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自然语言→代码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覆盖数十种编程语言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2024年用户超200万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Cursor / Windsurf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3619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AI原生IDE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整文件/多文件编辑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自然语言对话式编程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上下文感知整个项目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一键修复Bug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新一代编程范式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通用模型编程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36192"/>
            <a:ext cx="3200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Claude：编程能力最强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GPT-4o：代码解释完善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DeepSeek-V3：高性价比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通过对话即可开发应用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原型开发效率提升10x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非程序员也能写代码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典型工作流：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描述需求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60320" y="5440680"/>
            <a:ext cx="164592" cy="128016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34640" y="5303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AI生成代码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6320" y="5440680"/>
            <a:ext cx="164592" cy="128016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5303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审查测试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2320" y="5440680"/>
            <a:ext cx="164592" cy="128016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5303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迭代修改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5440680"/>
            <a:ext cx="164592" cy="128016"/>
          </a:xfrm>
          <a:prstGeom prst="rightArrow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53035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完成部署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应用场景（三）：行业落地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Industry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435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🏥 医疗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辅助诊断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病历分析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药物研发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医学文献检索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435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⚖️ 法律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26280" y="21762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合同审查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案例检索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法律文书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合规检查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C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2435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🏦 金融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66760" y="21762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风险评估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投资分析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反欺诈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智能投顾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4C5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95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🎓 教育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482803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个性化辅导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自动出题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作文批改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知识问答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84048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5C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895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🔬 科研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48056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26280" y="482803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文献综述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实验设计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数据分析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论文润色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84048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4C6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895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🏭 制造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480560"/>
            <a:ext cx="3474720" cy="17830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366760" y="482803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质量检测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故障预测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供应链优化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操作手册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应用场景（四）：多模态能力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Multimodal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43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🖼️ 图像理解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识别图片内容、OCR文字提取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图表分析、医学影像辅助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GPT-4V/4o, Claude,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18872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243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🎤 语音交互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19" y="1901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19" y="217627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语音→文字（ASR）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文字→语音（TTS）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实时语音对话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GPT-4o高级语音模式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🎬 视频理解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056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53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85800" y="482803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视频内容摘要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动作识别与事件检测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视频问答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Gemini 1.5 Pro领先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840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38953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🎨 图像生成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480560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19" y="4553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46519" y="482803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文字→图像（DALL-E, Midjourney）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风格迁移、图像编辑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海报/Logo自动设计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GPT-4o内置图像生成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应用场景（五）：AI Agent 智能体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什么是AI Agent？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AI Agent是一个能自主感知环境、制定计划、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使用工具、执行行动来完成复杂任务的AI系统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核心理念：LLM作为「大脑」+ 工具调用能力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→ 从被动问答到主动执行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范式升级：Copilot（副驾驶）→ Agent（自动驾驶）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Agent的核心能力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规划 (Planning)：任务分解与步骤规划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记忆 (Memory)：短期/长期记忆管理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工具使用 (Tool Use)：API、搜索、代码执行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反思 (Reflection)：自我检查与纠错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多Agent协作：多个Agent分工合作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Agent工作流程：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</a:t>
            </a:r>
            <a:br/>
            <a:r>
              <a:t>目标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6596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4884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任务</a:t>
            </a:r>
            <a:br/>
            <a:r>
              <a:t>规划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5760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调用</a:t>
            </a:r>
            <a:br/>
            <a:r>
              <a:t>工具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34924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3212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执行</a:t>
            </a:r>
            <a:br/>
            <a:r>
              <a:t>行动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8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观察</a:t>
            </a:r>
            <a:br/>
            <a:r>
              <a:t>结果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1540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反思</a:t>
            </a:r>
            <a:br/>
            <a:r>
              <a:t>调整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424160" y="4343400"/>
            <a:ext cx="137160" cy="109728"/>
          </a:xfrm>
          <a:prstGeom prst="rightArrow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607040" y="411480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完成</a:t>
            </a:r>
            <a:br/>
            <a:r>
              <a:t>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22A"/>
                </a:solidFill>
                <a:latin typeface="Microsoft YaHei"/>
              </a:defRPr>
            </a:pPr>
            <a:r>
              <a:t>🔄 循环直到完成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提示工程（一）：基础原则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Prompt Engineering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原则一：清晰明确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明确指定任务和目标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给出具体的输出格式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设定角色和背景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避免模糊不清的指令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「写一份报告」→ ✗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「以数据分析师身份，用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Markdown格式写一份2024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AI行业趋势分析报告」→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原则二：提供上下文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36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说明你的背景和需求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给出相关领域信息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指定受众和语言风格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必要时提供参考资料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「我是大一学生，请用通俗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易懂的方式解释Transformer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架构，避免过于数学化的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解释，可以打比方」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原则三：迭代优化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36192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先给一个简单版本试效果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根据输出逐步细化要求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把复杂任务拆解成多步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使用约束条件控制输出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「请用JSON格式输出，包含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以下字段：name, summary,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 key_points（3-5条），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  difficulty_level」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提示词 = 指令 + 上下文 + 输入数据 + 输出格式要求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指令</a:t>
            </a:r>
            <a:br/>
            <a:r>
              <a:t>Instruction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  <a:br/>
            <a:r>
              <a:t>上下文</a:t>
            </a:r>
            <a:br/>
            <a:r>
              <a:t>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9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3C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  <a:br/>
            <a:r>
              <a:t>输入数据</a:t>
            </a:r>
            <a:br/>
            <a:r>
              <a:t>Input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+</a:t>
            </a:r>
            <a:br/>
            <a:r>
              <a:t>输出格式</a:t>
            </a:r>
            <a:br/>
            <a:r>
              <a:t>Format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19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=</a:t>
            </a:r>
            <a:br/>
            <a:r>
              <a:t>有效提示词</a:t>
            </a:r>
            <a:br/>
            <a:r>
              <a:t>Prompt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提示工程（二）：进阶技巧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Advanced Prompt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思维链 (CoT)</a:t>
            </a:r>
            <a:br/>
            <a:r>
              <a:t>Chain-of-Thought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让模型「一步步思考」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'Let's think step by step'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显著提升推理准确性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数学题、逻辑题必备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887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少样本学习</a:t>
            </a:r>
            <a:br/>
            <a:r>
              <a:t>Few-shot Prompting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2628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在Prompt中给出2-5个示例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模型模仿示例格式和风格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无需微调即可定制输出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最实用的技巧之一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结构化输出</a:t>
            </a:r>
            <a:br/>
            <a:r>
              <a:t>Structured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6676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指定JSON/XML/Markdown格式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约束输出字段和类型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方便程序解析和自动化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生产环境必备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思维树 (ToT)</a:t>
            </a:r>
            <a:br/>
            <a:r>
              <a:t>Tree-of-Thoughts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91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82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50566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探索多条推理路径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评估并选择最佳路径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回溯和修正能力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适合复杂决策问题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9319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5C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  <a:br/>
            <a:r>
              <a:t>检索增强生成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7091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782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26280" y="50566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外挂知识库/文档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先检索相关信息再回答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减少幻觉、实时更新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企业应用主流方案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931920"/>
            <a:ext cx="3474720" cy="640080"/>
          </a:xfrm>
          <a:prstGeom prst="roundRect">
            <a:avLst>
              <a:gd name="adj" fmla="val 5000"/>
            </a:avLst>
          </a:prstGeom>
          <a:solidFill>
            <a:srgbClr val="4C6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ReAct</a:t>
            </a:r>
            <a:br/>
            <a:r>
              <a:t>推理+行动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7091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782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366760" y="50566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Thought → Action → Observation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推理和行动交替进行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适合Agent场景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工具调用+反思循环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提示工程（三）：实践对比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Prompt Examples: Good vs 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❌  不好的提示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'帮我写个关于气候变化的文章'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问题：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没有指定长度、风格、受众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没有说明具体角度或重点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输出难以控制，可能不符合需求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需要反复修改才能达到想要的效果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303520" cy="457200"/>
          </a:xfrm>
          <a:prstGeom prst="roundRect">
            <a:avLst>
              <a:gd name="adj" fmla="val 4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1615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✓  好的提示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3736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20" y="2084832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'你是一位环境科学教授，请为大一学生写一篇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800字左右的科普短文，介绍气候变化对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中国农业的影响。要求：语言通俗易懂，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包含至少3个具体数据，用小标题分段，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结尾提出2-3个可行的个人行动建议。'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优点：角色设定、受众、长度、内容要素、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结构要求都明确，一次生成即可满足需求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965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提示工程实践建议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70832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角色扮演往往效果显著：'你是一位资深Python工程师'比直接提问获得更好的代码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让模型自我修正：在提示结尾加 '请检查你的回答是否有误，如有错误请自行修正'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分步复杂任务：'首先列出大纲 → 我确认 → 再逐节展开' 比一次性生成更有质量保证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善用约束条件：字数/格式/风格/禁用词/必须包含的要点 —— 越具体越好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提示词也需要版本管理！好的提示词值得保存和迭代，这是与大模型协作的核心技能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挑战与风险：大模型并非完美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Challenges &amp;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🔴 幻觉问题</a:t>
            </a:r>
            <a:br/>
            <a:r>
              <a:t>Hallucination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模型会自信地生成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不存在的事实和信息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学术写作需要核实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RAG可部分缓解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C05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🟠 偏见与歧视</a:t>
            </a:r>
            <a:br/>
            <a:r>
              <a:t>Bias &amp; Fairness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2628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训练数据中的偏见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会被模型放大和传播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性别/种族/地域偏见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去偏技术仍在探索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8016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B0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🟡 安全与滥用</a:t>
            </a:r>
            <a:br/>
            <a:r>
              <a:t>Safety &amp; Misuse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6596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039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366760" y="231343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生成虚假信息/钓鱼邮件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深度伪造/社交工程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越狱攻击(Jailbreak)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需要安全防护机制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2C6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🟢 隐私与版权</a:t>
            </a:r>
            <a:br/>
            <a:r>
              <a:t>Privacy &amp; 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1772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90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496519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训练数据版权争议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用户数据隐私泄露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模型记忆训练数据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法律框架尚不完善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9319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1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🔵 能耗与成本</a:t>
            </a:r>
            <a:br/>
            <a:r>
              <a:t>Energy &amp;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61772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690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4526280" y="496519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训练一次耗电巨大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推理也需要大量算力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碳排放问题受关注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小模型/蒸馏是方向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93192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977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⚫ 不可控性</a:t>
            </a:r>
            <a:br/>
            <a:r>
              <a:t>Uncontrollability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617720"/>
            <a:ext cx="3474720" cy="1691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690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366760" y="4965192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输出难以精确控制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复杂推理容易出错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缺乏真正的理解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可解释性不足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Microsoft YaHei"/>
              </a:defRPr>
            </a:pPr>
            <a:r>
              <a:t>未来展望：AGI还有多远？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2"/>
            <a:ext cx="137160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5A5A6"/>
                </a:solidFill>
                <a:latin typeface="Microsoft YaHei"/>
              </a:defRPr>
            </a:pPr>
            <a:r>
              <a:t>The Road to 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5A5A6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技术发展趋势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模型持续变大，但更多转向效率优化 (MoE, 蒸馏)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多模态深度融合：文本+图像+语音+视频+代码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长上下文成为标配（100万Token+）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Agent能力持续增强：自主规划、执行、反思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端侧AI：手机/PC本地运行，隐私+低延迟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具身智能：大模型+机器人，迈向物理世界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值得思考的问题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Scaling Law会继续有效吗？还是已到瓶颈？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大模型真正「理解」语言吗？还是只是统计模式匹配？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AGI(通用人工智能)何时到来？5年？20年？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AI会成为人类的工具还是替代者？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如何确保AI的发展符合人类的长远利益？</a:t>
            </a:r>
          </a:p>
          <a:p>
            <a:pPr>
              <a:spcAft>
                <a:spcPts val="600"/>
              </a:spcAft>
              <a:defRPr sz="1100">
                <a:solidFill>
                  <a:srgbClr val="2D2D2D"/>
                </a:solidFill>
                <a:latin typeface="Microsoft YaHei"/>
              </a:defRPr>
            </a:pPr>
            <a:r>
              <a:t>  • 作为未来的从业者，我们应该如何准备？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11064240" cy="36576"/>
          </a:xfrm>
          <a:prstGeom prst="rect">
            <a:avLst/>
          </a:prstGeom>
          <a:solidFill>
            <a:srgbClr val="E8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推荐阅读与参考资源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[论文] Attention Is All You Need (Vaswani et al., 2017) — Transformer架构开山之作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[论文] Scaling Laws for Neural Language Models (Kaplan et al., 2020) — 规模定律的发现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[论文] Training Language Models to Follow Instructions (InstructGPT / RLHF, OpenAI 2022)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[课程] Stanford CS224N: Natural Language Processing with Deep Learning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[课程] 吴恩达 (Andrew Ng) — ChatGPT Prompt Engineering for Developers (DeepLearning.AI)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[平台] Hugging Face (huggingface.co) — 开源模型、数据集、社区</a:t>
            </a:r>
          </a:p>
          <a:p>
            <a:pPr>
              <a:spcAft>
                <a:spcPts val="600"/>
              </a:spcAft>
              <a:defRPr sz="1000">
                <a:solidFill>
                  <a:srgbClr val="2D2D2D"/>
                </a:solidFill>
                <a:latin typeface="Microsoft YaHei"/>
              </a:defRPr>
            </a:pPr>
            <a:r>
              <a:t>• [书籍] 《大规模语言模型：从理论到实践》(复旦/清华等编著)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感谢聆听  ·  欢迎提问 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